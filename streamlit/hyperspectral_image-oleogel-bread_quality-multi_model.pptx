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90" r:id="rId2"/>
    <p:sldId id="295" r:id="rId3"/>
    <p:sldId id="294" r:id="rId4"/>
    <p:sldId id="296" r:id="rId5"/>
    <p:sldId id="297" r:id="rId6"/>
  </p:sldIdLst>
  <p:sldSz cx="9906000" cy="6858000" type="A4"/>
  <p:notesSz cx="6886575" cy="100187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854F"/>
    <a:srgbClr val="BF8B53"/>
    <a:srgbClr val="BA844F"/>
    <a:srgbClr val="BB844E"/>
    <a:srgbClr val="BF8B52"/>
    <a:srgbClr val="B77D45"/>
    <a:srgbClr val="C69560"/>
    <a:srgbClr val="BF8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8" autoAdjust="0"/>
    <p:restoredTop sz="96283" autoAdjust="0"/>
  </p:normalViewPr>
  <p:slideViewPr>
    <p:cSldViewPr snapToGrid="0">
      <p:cViewPr varScale="1">
        <p:scale>
          <a:sx n="111" d="100"/>
          <a:sy n="111" d="100"/>
        </p:scale>
        <p:origin x="1584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0488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3D854-1B32-48F1-9107-69D2B001BC1D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3150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08625" cy="39449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0488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444CA-1774-4EA3-BDCF-B79DF67F1F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342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2444CA-1774-4EA3-BDCF-B79DF67F1F8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87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2444CA-1774-4EA3-BDCF-B79DF67F1F8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266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2444CA-1774-4EA3-BDCF-B79DF67F1F8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166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2444CA-1774-4EA3-BDCF-B79DF67F1F8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720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2444CA-1774-4EA3-BDCF-B79DF67F1F8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835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900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91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81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693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93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64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568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27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10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57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39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E8281-0E93-4A6F-A057-CC217C9C00E7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D29EE-08A4-460D-9507-2B4EA1BFA3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51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34274E08-F135-4EBB-BFAD-7FBB1CAC5778}"/>
              </a:ext>
            </a:extLst>
          </p:cNvPr>
          <p:cNvSpPr txBox="1"/>
          <p:nvPr/>
        </p:nvSpPr>
        <p:spPr>
          <a:xfrm>
            <a:off x="419235" y="929077"/>
            <a:ext cx="365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1" indent="-214311">
              <a:buFont typeface="Wingdings" panose="05000000000000000000" pitchFamily="2" charset="2"/>
              <a:buChar char="ü"/>
            </a:pP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 Dataset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104349"/>
              </p:ext>
            </p:extLst>
          </p:nvPr>
        </p:nvGraphicFramePr>
        <p:xfrm>
          <a:off x="708195" y="2024821"/>
          <a:ext cx="8886162" cy="1885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027">
                  <a:extLst>
                    <a:ext uri="{9D8B030D-6E8A-4147-A177-3AD203B41FA5}">
                      <a16:colId xmlns:a16="http://schemas.microsoft.com/office/drawing/2014/main" val="2500555787"/>
                    </a:ext>
                  </a:extLst>
                </a:gridCol>
                <a:gridCol w="1481027">
                  <a:extLst>
                    <a:ext uri="{9D8B030D-6E8A-4147-A177-3AD203B41FA5}">
                      <a16:colId xmlns:a16="http://schemas.microsoft.com/office/drawing/2014/main" val="2957603763"/>
                    </a:ext>
                  </a:extLst>
                </a:gridCol>
                <a:gridCol w="1481027">
                  <a:extLst>
                    <a:ext uri="{9D8B030D-6E8A-4147-A177-3AD203B41FA5}">
                      <a16:colId xmlns:a16="http://schemas.microsoft.com/office/drawing/2014/main" val="3799287677"/>
                    </a:ext>
                  </a:extLst>
                </a:gridCol>
                <a:gridCol w="1481027">
                  <a:extLst>
                    <a:ext uri="{9D8B030D-6E8A-4147-A177-3AD203B41FA5}">
                      <a16:colId xmlns:a16="http://schemas.microsoft.com/office/drawing/2014/main" val="4090804442"/>
                    </a:ext>
                  </a:extLst>
                </a:gridCol>
                <a:gridCol w="1481027">
                  <a:extLst>
                    <a:ext uri="{9D8B030D-6E8A-4147-A177-3AD203B41FA5}">
                      <a16:colId xmlns:a16="http://schemas.microsoft.com/office/drawing/2014/main" val="3111874293"/>
                    </a:ext>
                  </a:extLst>
                </a:gridCol>
                <a:gridCol w="1481027">
                  <a:extLst>
                    <a:ext uri="{9D8B030D-6E8A-4147-A177-3AD203B41FA5}">
                      <a16:colId xmlns:a16="http://schemas.microsoft.com/office/drawing/2014/main" val="3379074722"/>
                    </a:ext>
                  </a:extLst>
                </a:gridCol>
              </a:tblGrid>
              <a:tr h="324129">
                <a:tc grid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Hyper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spectral images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altLang="en-US" sz="1200" b="0" i="0" u="none" strike="noStrike" kern="1200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Hardness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577242"/>
                  </a:ext>
                </a:extLst>
              </a:tr>
              <a:tr h="3241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⋯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342911"/>
                  </a:ext>
                </a:extLst>
              </a:tr>
              <a:tr h="2273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0.195594</a:t>
                      </a:r>
                    </a:p>
                  </a:txBody>
                  <a:tcPr marL="9525" marR="9525" marT="9525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0.173271</a:t>
                      </a:r>
                    </a:p>
                  </a:txBody>
                  <a:tcPr marL="9525" marR="9525" marT="9525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0.150947</a:t>
                      </a:r>
                    </a:p>
                  </a:txBody>
                  <a:tcPr marL="9525" marR="9525" marT="9525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⋯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0.078035</a:t>
                      </a:r>
                    </a:p>
                  </a:txBody>
                  <a:tcPr marL="9525" marR="9525" marT="9525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7.166</a:t>
                      </a:r>
                    </a:p>
                  </a:txBody>
                  <a:tcPr marL="9525" marR="9525" marT="9525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46684"/>
                  </a:ext>
                </a:extLst>
              </a:tr>
              <a:tr h="31287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0.195779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0.173344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0.150909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0.075504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7.166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824067"/>
                  </a:ext>
                </a:extLst>
              </a:tr>
              <a:tr h="156566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⋯</a:t>
                      </a:r>
                    </a:p>
                  </a:txBody>
                  <a:tcPr vert="eaVert" anchor="ctr" anchorCtr="1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073927"/>
                  </a:ext>
                </a:extLst>
              </a:tr>
              <a:tr h="2273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0.194202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0.172094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0.149985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⋯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0.072873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5.466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401664"/>
                  </a:ext>
                </a:extLst>
              </a:tr>
              <a:tr h="31287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0.19258</a:t>
                      </a:r>
                    </a:p>
                  </a:txBody>
                  <a:tcPr marL="9525" marR="9525" marT="9525" marB="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0.170703</a:t>
                      </a:r>
                    </a:p>
                  </a:txBody>
                  <a:tcPr marL="9525" marR="9525" marT="9525" marB="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0.148827</a:t>
                      </a:r>
                    </a:p>
                  </a:txBody>
                  <a:tcPr marL="9525" marR="9525" marT="9525" marB="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0.072245</a:t>
                      </a:r>
                    </a:p>
                  </a:txBody>
                  <a:tcPr marL="9525" marR="9525" marT="9525" marB="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5.466</a:t>
                      </a:r>
                    </a:p>
                  </a:txBody>
                  <a:tcPr marL="9525" marR="9525" marT="9525" marB="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682603"/>
                  </a:ext>
                </a:extLst>
              </a:tr>
            </a:tbl>
          </a:graphicData>
        </a:graphic>
      </p:graphicFrame>
      <p:sp>
        <p:nvSpPr>
          <p:cNvPr id="5" name="왼쪽 대괄호 4"/>
          <p:cNvSpPr/>
          <p:nvPr/>
        </p:nvSpPr>
        <p:spPr>
          <a:xfrm rot="5400000">
            <a:off x="4219982" y="-1178867"/>
            <a:ext cx="77807" cy="621813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왼쪽 대괄호 35"/>
          <p:cNvSpPr/>
          <p:nvPr/>
        </p:nvSpPr>
        <p:spPr>
          <a:xfrm>
            <a:off x="599344" y="2767787"/>
            <a:ext cx="99882" cy="1021573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944536" y="1626336"/>
            <a:ext cx="628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X data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25731" y="3145990"/>
            <a:ext cx="924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2997 rows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오른쪽 화살표 7"/>
          <p:cNvSpPr/>
          <p:nvPr/>
        </p:nvSpPr>
        <p:spPr>
          <a:xfrm rot="16200000">
            <a:off x="8796280" y="1855951"/>
            <a:ext cx="133524" cy="204216"/>
          </a:xfrm>
          <a:prstGeom prst="rightArrow">
            <a:avLst>
              <a:gd name="adj1" fmla="val 50000"/>
              <a:gd name="adj2" fmla="val 4782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8550071" y="1630082"/>
            <a:ext cx="6259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Y data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782780"/>
              </p:ext>
            </p:extLst>
          </p:nvPr>
        </p:nvGraphicFramePr>
        <p:xfrm>
          <a:off x="708195" y="4670208"/>
          <a:ext cx="8886162" cy="1885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027">
                  <a:extLst>
                    <a:ext uri="{9D8B030D-6E8A-4147-A177-3AD203B41FA5}">
                      <a16:colId xmlns:a16="http://schemas.microsoft.com/office/drawing/2014/main" val="2500555787"/>
                    </a:ext>
                  </a:extLst>
                </a:gridCol>
                <a:gridCol w="1481027">
                  <a:extLst>
                    <a:ext uri="{9D8B030D-6E8A-4147-A177-3AD203B41FA5}">
                      <a16:colId xmlns:a16="http://schemas.microsoft.com/office/drawing/2014/main" val="2957603763"/>
                    </a:ext>
                  </a:extLst>
                </a:gridCol>
                <a:gridCol w="1481027">
                  <a:extLst>
                    <a:ext uri="{9D8B030D-6E8A-4147-A177-3AD203B41FA5}">
                      <a16:colId xmlns:a16="http://schemas.microsoft.com/office/drawing/2014/main" val="3799287677"/>
                    </a:ext>
                  </a:extLst>
                </a:gridCol>
                <a:gridCol w="1481027">
                  <a:extLst>
                    <a:ext uri="{9D8B030D-6E8A-4147-A177-3AD203B41FA5}">
                      <a16:colId xmlns:a16="http://schemas.microsoft.com/office/drawing/2014/main" val="4090804442"/>
                    </a:ext>
                  </a:extLst>
                </a:gridCol>
                <a:gridCol w="1481027">
                  <a:extLst>
                    <a:ext uri="{9D8B030D-6E8A-4147-A177-3AD203B41FA5}">
                      <a16:colId xmlns:a16="http://schemas.microsoft.com/office/drawing/2014/main" val="3111874293"/>
                    </a:ext>
                  </a:extLst>
                </a:gridCol>
                <a:gridCol w="1481027">
                  <a:extLst>
                    <a:ext uri="{9D8B030D-6E8A-4147-A177-3AD203B41FA5}">
                      <a16:colId xmlns:a16="http://schemas.microsoft.com/office/drawing/2014/main" val="3379074722"/>
                    </a:ext>
                  </a:extLst>
                </a:gridCol>
              </a:tblGrid>
              <a:tr h="324129">
                <a:tc gridSpan="5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Hyperspectral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images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 altLang="en-US" sz="1200" b="0" i="0" u="none" strike="noStrike" kern="1200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Volume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303955"/>
                  </a:ext>
                </a:extLst>
              </a:tr>
              <a:tr h="3241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⋯</a:t>
                      </a: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342911"/>
                  </a:ext>
                </a:extLst>
              </a:tr>
              <a:tr h="2273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0.195594</a:t>
                      </a:r>
                    </a:p>
                  </a:txBody>
                  <a:tcPr marL="9525" marR="9525" marT="9525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0.173271</a:t>
                      </a:r>
                    </a:p>
                  </a:txBody>
                  <a:tcPr marL="9525" marR="9525" marT="9525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0.150947</a:t>
                      </a:r>
                    </a:p>
                  </a:txBody>
                  <a:tcPr marL="9525" marR="9525" marT="9525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⋯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0.078035</a:t>
                      </a:r>
                    </a:p>
                  </a:txBody>
                  <a:tcPr marL="9525" marR="9525" marT="9525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2.78</a:t>
                      </a:r>
                    </a:p>
                  </a:txBody>
                  <a:tcPr marL="9525" marR="9525" marT="9525" marB="0" anchor="ctr" anchorCtr="1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46684"/>
                  </a:ext>
                </a:extLst>
              </a:tr>
              <a:tr h="31287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0.195779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0.173344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0.150909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0.075504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2.78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824067"/>
                  </a:ext>
                </a:extLst>
              </a:tr>
              <a:tr h="156566">
                <a:tc grid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⋯</a:t>
                      </a:r>
                    </a:p>
                  </a:txBody>
                  <a:tcPr vert="eaVert" anchor="ctr" anchorCtr="1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073927"/>
                  </a:ext>
                </a:extLst>
              </a:tr>
              <a:tr h="227340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0.194202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0.172094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0.149985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⋯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0.072873</a:t>
                      </a:r>
                    </a:p>
                  </a:txBody>
                  <a:tcPr marL="9525" marR="9525" marT="9525" marB="0" anchor="ctr" anchorCtr="1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3.72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 anchorCtr="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401664"/>
                  </a:ext>
                </a:extLst>
              </a:tr>
              <a:tr h="312874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0.19258</a:t>
                      </a:r>
                    </a:p>
                  </a:txBody>
                  <a:tcPr marL="9525" marR="9525" marT="9525" marB="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0.170703</a:t>
                      </a:r>
                    </a:p>
                  </a:txBody>
                  <a:tcPr marL="9525" marR="9525" marT="9525" marB="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0.148827</a:t>
                      </a:r>
                    </a:p>
                  </a:txBody>
                  <a:tcPr marL="9525" marR="9525" marT="9525" marB="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0.072245</a:t>
                      </a:r>
                    </a:p>
                  </a:txBody>
                  <a:tcPr marL="9525" marR="9525" marT="9525" marB="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3.72</a:t>
                      </a:r>
                    </a:p>
                  </a:txBody>
                  <a:tcPr marL="9525" marR="9525" marT="9525" marB="0"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682603"/>
                  </a:ext>
                </a:extLst>
              </a:tr>
            </a:tbl>
          </a:graphicData>
        </a:graphic>
      </p:graphicFrame>
      <p:sp>
        <p:nvSpPr>
          <p:cNvPr id="59" name="왼쪽 대괄호 58"/>
          <p:cNvSpPr/>
          <p:nvPr/>
        </p:nvSpPr>
        <p:spPr>
          <a:xfrm rot="5400000">
            <a:off x="4219982" y="1466520"/>
            <a:ext cx="77807" cy="621813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왼쪽 대괄호 59"/>
          <p:cNvSpPr/>
          <p:nvPr/>
        </p:nvSpPr>
        <p:spPr>
          <a:xfrm>
            <a:off x="599344" y="5421793"/>
            <a:ext cx="99882" cy="987633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3944536" y="4233623"/>
            <a:ext cx="628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X data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오른쪽 화살표 62"/>
          <p:cNvSpPr/>
          <p:nvPr/>
        </p:nvSpPr>
        <p:spPr>
          <a:xfrm rot="16200000">
            <a:off x="8796280" y="4501338"/>
            <a:ext cx="133524" cy="204216"/>
          </a:xfrm>
          <a:prstGeom prst="rightArrow">
            <a:avLst>
              <a:gd name="adj1" fmla="val 50000"/>
              <a:gd name="adj2" fmla="val 4782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8550071" y="4226851"/>
            <a:ext cx="6259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Y data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 rot="16200000">
            <a:off x="-9821" y="5772732"/>
            <a:ext cx="8926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2997 rows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D20E658-768D-4ADD-815E-60C368F6F6E5}"/>
              </a:ext>
            </a:extLst>
          </p:cNvPr>
          <p:cNvSpPr/>
          <p:nvPr/>
        </p:nvSpPr>
        <p:spPr>
          <a:xfrm>
            <a:off x="0" y="-2"/>
            <a:ext cx="9906000" cy="80359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Development of prediction website for the hardness and volume </a:t>
            </a:r>
          </a:p>
          <a:p>
            <a:pPr algn="ctr"/>
            <a:r>
              <a:rPr lang="en-US" altLang="ko-K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altLang="ko-KR" sz="2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oleogel</a:t>
            </a:r>
            <a:r>
              <a:rPr lang="en-US" altLang="ko-KR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-based breads</a:t>
            </a:r>
            <a:endParaRPr lang="ko-KR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274E08-F135-4EBB-BFAD-7FBB1CAC5778}"/>
              </a:ext>
            </a:extLst>
          </p:cNvPr>
          <p:cNvSpPr txBox="1"/>
          <p:nvPr/>
        </p:nvSpPr>
        <p:spPr>
          <a:xfrm>
            <a:off x="574987" y="1354248"/>
            <a:ext cx="3653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▪ Hardness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274E08-F135-4EBB-BFAD-7FBB1CAC5778}"/>
              </a:ext>
            </a:extLst>
          </p:cNvPr>
          <p:cNvSpPr txBox="1"/>
          <p:nvPr/>
        </p:nvSpPr>
        <p:spPr>
          <a:xfrm>
            <a:off x="574987" y="4060798"/>
            <a:ext cx="3653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▪ Volume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25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6" y="108122"/>
            <a:ext cx="3240000" cy="324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18" y="108122"/>
            <a:ext cx="3240000" cy="324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650" y="108122"/>
            <a:ext cx="3240000" cy="3240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6" y="3379415"/>
            <a:ext cx="3240000" cy="3240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718" y="3379415"/>
            <a:ext cx="3240000" cy="3240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4650" y="3379415"/>
            <a:ext cx="3240000" cy="324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83987" y="2297924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0.763052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0.645964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0.098240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0.120033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94546" y="2291574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0.686520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0.669695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0.112997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0.115941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4688" y="2306814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0.667813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0.633042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0.116320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0.122204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9227" y="5594484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0.759378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0.687611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0.098999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0.112752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43695" y="5592534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0.763390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0.645297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0.098170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0.120146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90051" y="5607774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0.762748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0.660770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0.098303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0.117497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58512" y="173527"/>
            <a:ext cx="11801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RandomForest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60339" y="164119"/>
            <a:ext cx="612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&lt;SVM&gt;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07959" y="166186"/>
            <a:ext cx="8867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AdaBoost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54506" y="3451479"/>
            <a:ext cx="1319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GradientBoosting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86724" y="3442022"/>
            <a:ext cx="8451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45384" y="3457262"/>
            <a:ext cx="859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CatBoost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27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453" y="152249"/>
            <a:ext cx="3240000" cy="32400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854" y="3609374"/>
            <a:ext cx="3240000" cy="32400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071" y="3593939"/>
            <a:ext cx="3240000" cy="3240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61" y="154286"/>
            <a:ext cx="3240000" cy="32400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1107" y="160875"/>
            <a:ext cx="3240000" cy="32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60237" y="2344342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0.763392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0.644581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0.098170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0.120268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67405" y="2361594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0.744749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0.622384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0.101964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0.123966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06071" y="2345026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0.763368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0.648299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0.098175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0.119637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53381" y="5796214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0.730049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0.701306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0.104859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0.110253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06499" y="5802706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0.721645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0.720331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0.106189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0.107586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60854" y="214557"/>
            <a:ext cx="1088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DecisionTree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38539" y="240435"/>
            <a:ext cx="1002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KNeighbors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56523" y="3653455"/>
            <a:ext cx="5982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&lt;MLP&gt;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34463" y="211861"/>
            <a:ext cx="9028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18103" y="3671659"/>
            <a:ext cx="6142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&lt;CNN&gt;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92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479" y="3501544"/>
            <a:ext cx="3240000" cy="32400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469" y="94052"/>
            <a:ext cx="3240000" cy="3240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0" y="3482203"/>
            <a:ext cx="3240000" cy="3240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469" y="3482203"/>
            <a:ext cx="3240000" cy="32400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8479" y="76833"/>
            <a:ext cx="3240000" cy="3240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90" y="76833"/>
            <a:ext cx="3240000" cy="324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47792" y="2238869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0.903569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): 0.887232</a:t>
            </a:r>
            <a:endParaRPr lang="en-US" altLang="ko-KR" sz="1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0.061137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0.068309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65930" y="2261094"/>
            <a:ext cx="14814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0.825544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0.839371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082232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0.081527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78028" y="2270619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0.815377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0.813784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0.084594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0.087780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29069" y="5650995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0.902309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0.898858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0.061535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0.064692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65444" y="5677455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0.903752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0.888672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0.061079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0.067872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4378" y="5674494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0.903492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0.892732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0.061161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0.066623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51832" y="143281"/>
            <a:ext cx="11801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RandomForest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08904" y="162331"/>
            <a:ext cx="612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&lt;SVM&gt;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98163" y="171856"/>
            <a:ext cx="8867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AdaBoost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34491" y="3556322"/>
            <a:ext cx="1319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GradientBoosting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21014" y="3565847"/>
            <a:ext cx="8451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14964" y="3575372"/>
            <a:ext cx="859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CatBoost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66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795" y="3488838"/>
            <a:ext cx="3240000" cy="324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320" y="3503306"/>
            <a:ext cx="3240000" cy="324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926" y="152647"/>
            <a:ext cx="3240000" cy="324000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6" y="162692"/>
            <a:ext cx="3240000" cy="32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19750" y="2341960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0.903754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0.888236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0.061078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0.068004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18295" y="2336541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0.897849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0.879340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0.062924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0.070659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66876" y="5651211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0.871875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0.881458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0.070472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0.070036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19984" y="5653513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0.886550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0.891800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0.066313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0.066916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12229" y="229018"/>
            <a:ext cx="1088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DecisionTree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22924" y="227390"/>
            <a:ext cx="1002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KNeighbors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40505" y="3548191"/>
            <a:ext cx="5982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&lt;MLP&gt;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42605" y="3564132"/>
            <a:ext cx="6142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&lt;CNN&gt;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5036" y="162405"/>
            <a:ext cx="3240000" cy="324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69785" y="2335407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(train): 0.903750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ko-KR" sz="1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 (test): 0.888801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(train): 0.061080</a:t>
            </a:r>
          </a:p>
          <a:p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RMSE (test): 0.067832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13539" y="216964"/>
            <a:ext cx="9028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1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r>
              <a:rPr lang="en-US" altLang="ko-KR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4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7609</TotalTime>
  <Words>603</Words>
  <Application>Microsoft Office PowerPoint</Application>
  <PresentationFormat>A4 용지(210x297mm)</PresentationFormat>
  <Paragraphs>186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손병욱</cp:lastModifiedBy>
  <cp:revision>478</cp:revision>
  <cp:lastPrinted>2026-04-29T08:06:35Z</cp:lastPrinted>
  <dcterms:created xsi:type="dcterms:W3CDTF">2022-12-05T08:30:06Z</dcterms:created>
  <dcterms:modified xsi:type="dcterms:W3CDTF">2026-05-07T09:43:03Z</dcterms:modified>
</cp:coreProperties>
</file>